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4FF"/>
                </a:solidFill>
                <a:latin typeface="Microsoft JhengHei"/>
              </a:defRPr>
            </a:pPr>
            <a:r>
              <a:t>🛡️ SECURITY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Microsoft JhengHei"/>
              </a:defRPr>
            </a:pPr>
            <a:r>
              <a:t>SOC 統一安全平台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566160"/>
            <a:ext cx="30175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AEC0"/>
                </a:solidFill>
                <a:latin typeface="Microsoft JhengHei"/>
              </a:defRPr>
            </a:pPr>
            <a:r>
              <a:t>企業級 Web 應用程式防火牆 ｜ AI 智能防禦 ｜ IDS/IPS 整合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4846320"/>
            <a:ext cx="1371600" cy="41148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48737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4FF"/>
                </a:solidFill>
                <a:latin typeface="Microsoft JhengHei"/>
              </a:defRPr>
            </a:pPr>
            <a:r>
              <a:t>WAF 防護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4846320"/>
            <a:ext cx="1371600" cy="41148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48737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C3AED"/>
                </a:solidFill>
                <a:latin typeface="Microsoft JhengHei"/>
              </a:defRPr>
            </a:pPr>
            <a:r>
              <a:t>AI 分析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79" y="4846320"/>
            <a:ext cx="1371600" cy="41148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79" y="48737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Microsoft JhengHei"/>
              </a:defRPr>
            </a:pPr>
            <a:r>
              <a:t>IDS/IPS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59" y="4846320"/>
            <a:ext cx="1371600" cy="41148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59" y="48737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Microsoft JhengHei"/>
              </a:defRPr>
            </a:pPr>
            <a:r>
              <a:t>SOC 監控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0" y="4846320"/>
            <a:ext cx="1371600" cy="41148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0" y="48737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Microsoft JhengHei"/>
              </a:defRPr>
            </a:pPr>
            <a:r>
              <a:t>3D 視覺化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Microsoft JhengHei"/>
              </a:defRPr>
            </a:pPr>
            <a:r>
              <a:t>文件版本 3.0 ｜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系統概述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8288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EC0"/>
                </a:solidFill>
                <a:latin typeface="Microsoft JhengHei"/>
              </a:defRPr>
            </a:pPr>
            <a:r>
              <a:t>Security One WAF — 企業級 Web 應用程式防火牆完整解決方案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18288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Microsoft JhengHei"/>
              </a:defRPr>
            </a:pPr>
            <a:r>
              <a:t>🌐 多站點支援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Microsoft JhengHei"/>
              </a:defRPr>
            </a:pPr>
            <a:r>
              <a:t>同時保護多個網站與網域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18288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Microsoft JhengHei"/>
              </a:defRPr>
            </a:pPr>
            <a:r>
              <a:t>⚔️ 雙重運作模式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860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Microsoft JhengHei"/>
              </a:defRPr>
            </a:pPr>
            <a:r>
              <a:t>防禦模式（即時封鎖）/ 觀察模式（僅記錄）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291840" cy="18288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Microsoft JhengHei"/>
              </a:defRPr>
            </a:pPr>
            <a:r>
              <a:t>🧱 多層防禦架構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2860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Microsoft JhengHei"/>
              </a:defRPr>
            </a:pPr>
            <a:r>
              <a:t>結合規則引擎、AI 分析與行為偵測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3291840" cy="18288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14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Microsoft JhengHei"/>
              </a:defRPr>
            </a:pPr>
            <a:r>
              <a:t>🖥️ 視覺化管理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720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Microsoft JhengHei"/>
              </a:defRPr>
            </a:pPr>
            <a:r>
              <a:t>Vue.js 3 + Inertia.js 現代化 SPA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931920"/>
            <a:ext cx="3291840" cy="18288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4114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Microsoft JhengHei"/>
              </a:defRPr>
            </a:pPr>
            <a:r>
              <a:t>🐳 容器化部署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5720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Microsoft JhengHei"/>
              </a:defRPr>
            </a:pPr>
            <a:r>
              <a:t>Docker 容器化，易於安裝與擴展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931920"/>
            <a:ext cx="3291840" cy="18288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4114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Microsoft JhengHei"/>
              </a:defRPr>
            </a:pPr>
            <a:r>
              <a:t>🔍 IDS/IPS 整合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5720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Microsoft JhengHei"/>
              </a:defRPr>
            </a:pPr>
            <a:r>
              <a:t>分散式入侵偵測與防禦系統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技術架構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82880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188720"/>
          <a:ext cx="5029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技術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EC0"/>
                          </a:solidFill>
                          <a:latin typeface="Microsoft JhengHei"/>
                        </a:defRPr>
                      </a:pPr>
                      <a:r>
                        <a:t>部署方式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EC0"/>
                          </a:solidFill>
                          <a:latin typeface="Microsoft JhengHei"/>
                        </a:defRPr>
                      </a:pPr>
                      <a:r>
                        <a:t>Docker 容器化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EC0"/>
                          </a:solidFill>
                          <a:latin typeface="Microsoft JhengHei"/>
                        </a:defRPr>
                      </a:pPr>
                      <a:r>
                        <a:t>反向代理</a:t>
                      </a:r>
                    </a:p>
                  </a:txBody>
                  <a:tcPr>
                    <a:solidFill>
                      <a:srgbClr val="151F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EC0"/>
                          </a:solidFill>
                          <a:latin typeface="Microsoft JhengHei"/>
                        </a:defRPr>
                      </a:pPr>
                      <a:r>
                        <a:t>OpenResty (Nginx + Lua)</a:t>
                      </a:r>
                    </a:p>
                  </a:txBody>
                  <a:tcPr>
                    <a:solidFill>
                      <a:srgbClr val="151F3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EC0"/>
                          </a:solidFill>
                          <a:latin typeface="Microsoft JhengHei"/>
                        </a:defRPr>
                      </a:pPr>
                      <a:r>
                        <a:t>應用框架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EC0"/>
                          </a:solidFill>
                          <a:latin typeface="Microsoft JhengHei"/>
                        </a:defRPr>
                      </a:pPr>
                      <a:r>
                        <a:t>Laravel 12.x (PHP 8.3+)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EC0"/>
                          </a:solidFill>
                          <a:latin typeface="Microsoft JhengHei"/>
                        </a:defRPr>
                      </a:pPr>
                      <a:r>
                        <a:t>前端框架</a:t>
                      </a:r>
                    </a:p>
                  </a:txBody>
                  <a:tcPr>
                    <a:solidFill>
                      <a:srgbClr val="151F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EC0"/>
                          </a:solidFill>
                          <a:latin typeface="Microsoft JhengHei"/>
                        </a:defRPr>
                      </a:pPr>
                      <a:r>
                        <a:t>Vue.js 3 + Inertia.js v2</a:t>
                      </a:r>
                    </a:p>
                  </a:txBody>
                  <a:tcPr>
                    <a:solidFill>
                      <a:srgbClr val="151F3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EC0"/>
                          </a:solidFill>
                          <a:latin typeface="Microsoft JhengHei"/>
                        </a:defRPr>
                      </a:pPr>
                      <a:r>
                        <a:t>CSS 框架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EC0"/>
                          </a:solidFill>
                          <a:latin typeface="Microsoft JhengHei"/>
                        </a:defRPr>
                      </a:pPr>
                      <a:r>
                        <a:t>Tailwind CSS v4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EC0"/>
                          </a:solidFill>
                          <a:latin typeface="Microsoft JhengHei"/>
                        </a:defRPr>
                      </a:pPr>
                      <a:r>
                        <a:t>資料庫</a:t>
                      </a:r>
                    </a:p>
                  </a:txBody>
                  <a:tcPr>
                    <a:solidFill>
                      <a:srgbClr val="151F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EC0"/>
                          </a:solidFill>
                          <a:latin typeface="Microsoft JhengHei"/>
                        </a:defRPr>
                      </a:pPr>
                      <a:r>
                        <a:t>SQLite / MySQL / PostgreSQL</a:t>
                      </a:r>
                    </a:p>
                  </a:txBody>
                  <a:tcPr>
                    <a:solidFill>
                      <a:srgbClr val="151F3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EC0"/>
                          </a:solidFill>
                          <a:latin typeface="Microsoft JhengHei"/>
                        </a:defRPr>
                      </a:pPr>
                      <a:r>
                        <a:t>AI 引擎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EC0"/>
                          </a:solidFill>
                          <a:latin typeface="Microsoft JhengHei"/>
                        </a:defRPr>
                      </a:pPr>
                      <a:r>
                        <a:t>Ollama (本地 LLM)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EC0"/>
                          </a:solidFill>
                          <a:latin typeface="Microsoft JhengHei"/>
                        </a:defRPr>
                      </a:pPr>
                      <a:r>
                        <a:t>即時通訊</a:t>
                      </a:r>
                    </a:p>
                  </a:txBody>
                  <a:tcPr>
                    <a:solidFill>
                      <a:srgbClr val="151F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EC0"/>
                          </a:solidFill>
                          <a:latin typeface="Microsoft JhengHei"/>
                        </a:defRPr>
                      </a:pPr>
                      <a:r>
                        <a:t>Server-Sent Events (SSE)</a:t>
                      </a:r>
                    </a:p>
                  </a:txBody>
                  <a:tcPr>
                    <a:solidFill>
                      <a:srgbClr val="151F3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EC0"/>
                          </a:solidFill>
                          <a:latin typeface="Microsoft JhengHei"/>
                        </a:defRPr>
                      </a:pPr>
                      <a:r>
                        <a:t>3D 視覺化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EC0"/>
                          </a:solidFill>
                          <a:latin typeface="Microsoft JhengHei"/>
                        </a:defRPr>
                      </a:pPr>
                      <a:r>
                        <a:t>Three.js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Microsoft JhengHei"/>
              </a:defRPr>
            </a:pPr>
            <a:r>
              <a:t>🔒 安全特性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A0AEC0"/>
                </a:solidFill>
                <a:latin typeface="Microsoft JhengHei"/>
              </a:defRPr>
            </a:pPr>
            <a:r>
              <a:t>✓ bcrypt 密碼加密儲存</a:t>
            </a:r>
          </a:p>
          <a:p>
            <a:pPr>
              <a:spcAft>
                <a:spcPts val="400"/>
              </a:spcAft>
              <a:defRPr sz="1400">
                <a:solidFill>
                  <a:srgbClr val="A0AEC0"/>
                </a:solidFill>
                <a:latin typeface="Microsoft JhengHei"/>
              </a:defRPr>
            </a:pPr>
            <a:r>
              <a:t>✓ CSRF Token 保護</a:t>
            </a:r>
          </a:p>
          <a:p>
            <a:pPr>
              <a:spcAft>
                <a:spcPts val="400"/>
              </a:spcAft>
              <a:defRPr sz="1400">
                <a:solidFill>
                  <a:srgbClr val="A0AEC0"/>
                </a:solidFill>
                <a:latin typeface="Microsoft JhengHei"/>
              </a:defRPr>
            </a:pPr>
            <a:r>
              <a:t>✓ XSS 防護標頭</a:t>
            </a:r>
          </a:p>
          <a:p>
            <a:pPr>
              <a:spcAft>
                <a:spcPts val="400"/>
              </a:spcAft>
              <a:defRPr sz="1400">
                <a:solidFill>
                  <a:srgbClr val="A0AEC0"/>
                </a:solidFill>
                <a:latin typeface="Microsoft JhengHei"/>
              </a:defRPr>
            </a:pPr>
            <a:r>
              <a:t>✓ HTTP-Only Cookie</a:t>
            </a:r>
          </a:p>
          <a:p>
            <a:pPr>
              <a:spcAft>
                <a:spcPts val="400"/>
              </a:spcAft>
              <a:defRPr sz="1400">
                <a:solidFill>
                  <a:srgbClr val="A0AEC0"/>
                </a:solidFill>
                <a:latin typeface="Microsoft JhengHei"/>
              </a:defRPr>
            </a:pPr>
            <a:r>
              <a:t>✓ WebAuthn / Passkey 雙因素認證</a:t>
            </a:r>
          </a:p>
          <a:p>
            <a:pPr>
              <a:spcAft>
                <a:spcPts val="400"/>
              </a:spcAft>
              <a:defRPr sz="1400">
                <a:solidFill>
                  <a:srgbClr val="A0AEC0"/>
                </a:solidFill>
                <a:latin typeface="Microsoft JhengHei"/>
              </a:defRPr>
            </a:pPr>
            <a:r>
              <a:t>✓ Let's Encrypt SSL 自動簽發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840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Microsoft JhengHei"/>
              </a:defRPr>
            </a:pPr>
            <a:r>
              <a:t>📦 容器組成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4389120"/>
          <a:ext cx="50292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容器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用途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EC0"/>
                          </a:solidFill>
                          <a:latin typeface="Microsoft JhengHei"/>
                        </a:defRPr>
                      </a:pPr>
                      <a:r>
                        <a:t>security-one-waf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EC0"/>
                          </a:solidFill>
                          <a:latin typeface="Microsoft JhengHei"/>
                        </a:defRPr>
                      </a:pPr>
                      <a:r>
                        <a:t>主應用程式與管理介面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EC0"/>
                          </a:solidFill>
                          <a:latin typeface="Microsoft JhengHei"/>
                        </a:defRPr>
                      </a:pPr>
                      <a:r>
                        <a:t>security-one-waf-proxy</a:t>
                      </a:r>
                    </a:p>
                  </a:txBody>
                  <a:tcPr>
                    <a:solidFill>
                      <a:srgbClr val="151F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EC0"/>
                          </a:solidFill>
                          <a:latin typeface="Microsoft JhengHei"/>
                        </a:defRPr>
                      </a:pPr>
                      <a:r>
                        <a:t>OpenResty 反向代理與 WAF 引擎</a:t>
                      </a:r>
                    </a:p>
                  </a:txBody>
                  <a:tcPr>
                    <a:solidFill>
                      <a:srgbClr val="151F3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儀表板與監控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291840" cy="21031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📊  今日攻擊統計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Microsoft JhengHei"/>
              </a:defRPr>
            </a:pPr>
            <a:r>
              <a:t>攻擊總數、已攔截數、高危攻擊數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80160"/>
            <a:ext cx="3291840" cy="21031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417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🌍  攻擊來源國家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92024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Microsoft JhengHei"/>
              </a:defRPr>
            </a:pPr>
            <a:r>
              <a:t>地理位置分布統計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280160"/>
            <a:ext cx="3291840" cy="21031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417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📈  攻擊趨勢圖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192024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Microsoft JhengHei"/>
              </a:defRPr>
            </a:pPr>
            <a:r>
              <a:t>按小時顯示的攻擊折線圖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79"/>
            <a:ext cx="3291840" cy="21031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97763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🔴  即時事件串流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480559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Microsoft JhengHei"/>
              </a:defRPr>
            </a:pPr>
            <a:r>
              <a:t>SSE 技術即時攻擊推送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840479"/>
            <a:ext cx="3291840" cy="21031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397763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🔗  Nginx 連線數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480559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Microsoft JhengHei"/>
              </a:defRPr>
            </a:pPr>
            <a:r>
              <a:t>即時監控活躍連線數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840479"/>
            <a:ext cx="3291840" cy="21031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80" y="397763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💚  系統健康狀態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4480559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Microsoft JhengHei"/>
              </a:defRPr>
            </a:pPr>
            <a:r>
              <a:t>各服務運行狀態監控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站點管理與負載均衡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27432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  <a:latin typeface="Microsoft JhengHei"/>
              </a:defRPr>
            </a:pPr>
            <a:r>
              <a:t>🌐 站點管理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02920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A0AEC0"/>
                </a:solidFill>
                <a:latin typeface="Microsoft JhengHei"/>
              </a:defRPr>
            </a:pPr>
            <a:r>
              <a:t>▸ 多站點管理與反向代理</a:t>
            </a:r>
          </a:p>
          <a:p>
            <a:pPr>
              <a:spcAft>
                <a:spcPts val="400"/>
              </a:spcAft>
              <a:defRPr sz="1400">
                <a:solidFill>
                  <a:srgbClr val="A0AEC0"/>
                </a:solidFill>
                <a:latin typeface="Microsoft JhengHei"/>
              </a:defRPr>
            </a:pPr>
            <a:r>
              <a:t>▸ 防禦模式 / 觀察模式切換</a:t>
            </a:r>
          </a:p>
          <a:p>
            <a:pPr>
              <a:spcAft>
                <a:spcPts val="400"/>
              </a:spcAft>
              <a:defRPr sz="1400">
                <a:solidFill>
                  <a:srgbClr val="A0AEC0"/>
                </a:solidFill>
                <a:latin typeface="Microsoft JhengHei"/>
              </a:defRPr>
            </a:pPr>
            <a:r>
              <a:t>▸ Off / Low / Medium / High 防護等級</a:t>
            </a:r>
          </a:p>
          <a:p>
            <a:pPr>
              <a:spcAft>
                <a:spcPts val="400"/>
              </a:spcAft>
              <a:defRPr sz="1400">
                <a:solidFill>
                  <a:srgbClr val="A0AEC0"/>
                </a:solidFill>
                <a:latin typeface="Microsoft JhengHei"/>
              </a:defRPr>
            </a:pPr>
            <a:r>
              <a:t>▸ 強制 HTTPS、後端 SSL、CSP 安全標頭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Microsoft JhengHei"/>
              </a:defRPr>
            </a:pPr>
            <a:r>
              <a:t>⚖️ 負載均衡策略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3749039"/>
          <a:ext cx="5029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策略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說明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EC0"/>
                          </a:solidFill>
                          <a:latin typeface="Microsoft JhengHei"/>
                        </a:defRPr>
                      </a:pPr>
                      <a:r>
                        <a:t>Round Robin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EC0"/>
                          </a:solidFill>
                          <a:latin typeface="Microsoft JhengHei"/>
                        </a:defRPr>
                      </a:pPr>
                      <a:r>
                        <a:t>輪詢分配請求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EC0"/>
                          </a:solidFill>
                          <a:latin typeface="Microsoft JhengHei"/>
                        </a:defRPr>
                      </a:pPr>
                      <a:r>
                        <a:t>Random</a:t>
                      </a:r>
                    </a:p>
                  </a:txBody>
                  <a:tcPr>
                    <a:solidFill>
                      <a:srgbClr val="151F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EC0"/>
                          </a:solidFill>
                          <a:latin typeface="Microsoft JhengHei"/>
                        </a:defRPr>
                      </a:pPr>
                      <a:r>
                        <a:t>隨機分配</a:t>
                      </a:r>
                    </a:p>
                  </a:txBody>
                  <a:tcPr>
                    <a:solidFill>
                      <a:srgbClr val="151F3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EC0"/>
                          </a:solidFill>
                          <a:latin typeface="Microsoft JhengHei"/>
                        </a:defRPr>
                      </a:pPr>
                      <a:r>
                        <a:t>Least Connections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EC0"/>
                          </a:solidFill>
                          <a:latin typeface="Microsoft JhengHei"/>
                        </a:defRPr>
                      </a:pPr>
                      <a:r>
                        <a:t>優先分配連線數最少的伺服器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EC0"/>
                          </a:solidFill>
                          <a:latin typeface="Microsoft JhengHei"/>
                        </a:defRPr>
                      </a:pPr>
                      <a:r>
                        <a:t>IP Hash</a:t>
                      </a:r>
                    </a:p>
                  </a:txBody>
                  <a:tcPr>
                    <a:solidFill>
                      <a:srgbClr val="151F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EC0"/>
                          </a:solidFill>
                          <a:latin typeface="Microsoft JhengHei"/>
                        </a:defRPr>
                      </a:pPr>
                      <a:r>
                        <a:t>同一用戶固定訪問同一伺服器</a:t>
                      </a:r>
                    </a:p>
                  </a:txBody>
                  <a:tcPr>
                    <a:solidFill>
                      <a:srgbClr val="151F3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Microsoft JhengHei"/>
              </a:defRPr>
            </a:pPr>
            <a:r>
              <a:t>🔐 SSL/TLS 憑證管理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502920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A0AEC0"/>
                </a:solidFill>
                <a:latin typeface="Microsoft JhengHei"/>
              </a:defRPr>
            </a:pPr>
            <a:r>
              <a:t>✓ 一鍵簽發 Let's Encrypt 免費憑證</a:t>
            </a:r>
          </a:p>
          <a:p>
            <a:pPr>
              <a:spcAft>
                <a:spcPts val="400"/>
              </a:spcAft>
              <a:defRPr sz="1400">
                <a:solidFill>
                  <a:srgbClr val="A0AEC0"/>
                </a:solidFill>
                <a:latin typeface="Microsoft JhengHei"/>
              </a:defRPr>
            </a:pPr>
            <a:r>
              <a:t>✓ 自動完成 HTTP-01 驗證</a:t>
            </a:r>
          </a:p>
          <a:p>
            <a:pPr>
              <a:spcAft>
                <a:spcPts val="400"/>
              </a:spcAft>
              <a:defRPr sz="1400">
                <a:solidFill>
                  <a:srgbClr val="A0AEC0"/>
                </a:solidFill>
                <a:latin typeface="Microsoft JhengHei"/>
              </a:defRPr>
            </a:pPr>
            <a:r>
              <a:t>✓ 憑證到期提醒與自動續簽</a:t>
            </a:r>
          </a:p>
          <a:p>
            <a:pPr>
              <a:spcAft>
                <a:spcPts val="400"/>
              </a:spcAft>
              <a:defRPr sz="1400">
                <a:solidFill>
                  <a:srgbClr val="A0AEC0"/>
                </a:solidFill>
                <a:latin typeface="Microsoft JhengHei"/>
              </a:defRPr>
            </a:pPr>
            <a:r>
              <a:t>✓ Upstream SSL 支援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0" y="3200400"/>
          <a:ext cx="5029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6576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狀態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說明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EC0"/>
                          </a:solidFill>
                          <a:latin typeface="Microsoft JhengHei"/>
                        </a:defRPr>
                      </a:pPr>
                      <a:r>
                        <a:t>未設定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EC0"/>
                          </a:solidFill>
                          <a:latin typeface="Microsoft JhengHei"/>
                        </a:defRPr>
                      </a:pPr>
                      <a:r>
                        <a:t>尚未申請 SSL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EC0"/>
                          </a:solidFill>
                          <a:latin typeface="Microsoft JhengHei"/>
                        </a:defRPr>
                      </a:pPr>
                      <a:r>
                        <a:t>申請中</a:t>
                      </a:r>
                    </a:p>
                  </a:txBody>
                  <a:tcPr>
                    <a:solidFill>
                      <a:srgbClr val="151F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EC0"/>
                          </a:solidFill>
                          <a:latin typeface="Microsoft JhengHei"/>
                        </a:defRPr>
                      </a:pPr>
                      <a:r>
                        <a:t>正在進行申請</a:t>
                      </a:r>
                    </a:p>
                  </a:txBody>
                  <a:tcPr>
                    <a:solidFill>
                      <a:srgbClr val="151F3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EC0"/>
                          </a:solidFill>
                          <a:latin typeface="Microsoft JhengHei"/>
                        </a:defRPr>
                      </a:pPr>
                      <a:r>
                        <a:t>已啟用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EC0"/>
                          </a:solidFill>
                          <a:latin typeface="Microsoft JhengHei"/>
                        </a:defRPr>
                      </a:pPr>
                      <a:r>
                        <a:t>憑證有效使用中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EC0"/>
                          </a:solidFill>
                          <a:latin typeface="Microsoft JhengHei"/>
                        </a:defRPr>
                      </a:pPr>
                      <a:r>
                        <a:t>即將到期</a:t>
                      </a:r>
                    </a:p>
                  </a:txBody>
                  <a:tcPr>
                    <a:solidFill>
                      <a:srgbClr val="151F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EC0"/>
                          </a:solidFill>
                          <a:latin typeface="Microsoft JhengHei"/>
                        </a:defRPr>
                      </a:pPr>
                      <a:r>
                        <a:t>30 天內到期</a:t>
                      </a:r>
                    </a:p>
                  </a:txBody>
                  <a:tcPr>
                    <a:solidFill>
                      <a:srgbClr val="151F3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EC0"/>
                          </a:solidFill>
                          <a:latin typeface="Microsoft JhengHei"/>
                        </a:defRPr>
                      </a:pPr>
                      <a:r>
                        <a:t>已過期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EC0"/>
                          </a:solidFill>
                          <a:latin typeface="Microsoft JhengHei"/>
                        </a:defRPr>
                      </a:pPr>
                      <a:r>
                        <a:t>需重新申請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JhengHei"/>
              </a:defRPr>
            </a:pPr>
            <a:r>
              <a:t>核心攻擊防護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108960"/>
            <a:ext cx="210312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383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AEC0"/>
                </a:solidFill>
                <a:latin typeface="Microsoft JhengHei"/>
              </a:defRPr>
            </a:pPr>
            <a:r>
              <a:t>規則引擎提供的傳統攻擊特徵碼偵測與防護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攻擊防護類型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228600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3474720" cy="2286000"/>
          </a:xfrm>
          <a:prstGeom prst="rect">
            <a:avLst/>
          </a:prstGeom>
          <a:solidFill>
            <a:srgbClr val="1A253C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Microsoft JhengHei"/>
              </a:defRPr>
            </a:pPr>
            <a:r>
              <a:t>💉 SQL Injection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310896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SQL 關鍵字偵測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註解符號 (-- /**/ #)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編碼繞過嘗試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79" y="1188720"/>
            <a:ext cx="3474720" cy="2286000"/>
          </a:xfrm>
          <a:prstGeom prst="rect">
            <a:avLst/>
          </a:prstGeom>
          <a:solidFill>
            <a:srgbClr val="1A253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1325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Microsoft JhengHei"/>
              </a:defRPr>
            </a:pPr>
            <a:r>
              <a:t>⚡ XSS 跨站腳本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1691640"/>
            <a:ext cx="310896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&lt;script&gt; 標籤偵測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事件處理器攔截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JavaScript 協議攔截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19" y="1188720"/>
            <a:ext cx="3474720" cy="2286000"/>
          </a:xfrm>
          <a:prstGeom prst="rect">
            <a:avLst/>
          </a:prstGeom>
          <a:solidFill>
            <a:srgbClr val="1A253C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9" y="1325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Microsoft JhengHei"/>
              </a:defRPr>
            </a:pPr>
            <a:r>
              <a:t>📂 Path Traversal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9" y="1691640"/>
            <a:ext cx="310896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目錄跳轉序列 (../)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編碼變體 (%2e)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敏感檔案存取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31920"/>
            <a:ext cx="3474720" cy="2286000"/>
          </a:xfrm>
          <a:prstGeom prst="rect">
            <a:avLst/>
          </a:prstGeom>
          <a:solidFill>
            <a:srgbClr val="1A253C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069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Microsoft JhengHei"/>
              </a:defRPr>
            </a:pPr>
            <a:r>
              <a:t>🖥️ RCE 遠端執行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310896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Shell 命令注入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危險命令攔截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反向 Shell 偵測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79" y="3931920"/>
            <a:ext cx="3474720" cy="2286000"/>
          </a:xfrm>
          <a:prstGeom prst="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59" y="4069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Microsoft JhengHei"/>
              </a:defRPr>
            </a:pPr>
            <a:r>
              <a:t>🔍 Scanner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4434840"/>
            <a:ext cx="310896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已知掃描器特徵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自動化工具識別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異常請求頻率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19" y="3931920"/>
            <a:ext cx="3474720" cy="2286000"/>
          </a:xfrm>
          <a:prstGeom prst="rect">
            <a:avLst/>
          </a:prstGeom>
          <a:solidFill>
            <a:srgbClr val="1A253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9" y="4069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Microsoft JhengHei"/>
              </a:defRPr>
            </a:pPr>
            <a:r>
              <a:t>☕ Java 攻擊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9" y="4434840"/>
            <a:ext cx="310896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OGNL Injection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Java Deserialization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Gadget Chain 偵測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AI 智能防禦 &amp; DDoS 防護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320040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C3AED"/>
                </a:solidFill>
                <a:latin typeface="Microsoft JhengHei"/>
              </a:defRPr>
            </a:pPr>
            <a:r>
              <a:t>🤖 AI 智能防禦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A0AEC0"/>
                </a:solidFill>
                <a:latin typeface="Microsoft JhengHei"/>
              </a:defRPr>
            </a:pPr>
            <a:r>
              <a:t>▸ 整合 Ollama 本地 LLM 模型</a:t>
            </a:r>
          </a:p>
          <a:p>
            <a:pPr>
              <a:spcAft>
                <a:spcPts val="400"/>
              </a:spcAft>
              <a:defRPr sz="1400">
                <a:solidFill>
                  <a:srgbClr val="A0AEC0"/>
                </a:solidFill>
                <a:latin typeface="Microsoft JhengHei"/>
              </a:defRPr>
            </a:pPr>
            <a:r>
              <a:t>▸ 即時對可疑請求進行 AI 語意分析</a:t>
            </a:r>
          </a:p>
          <a:p>
            <a:pPr>
              <a:spcAft>
                <a:spcPts val="400"/>
              </a:spcAft>
              <a:defRPr sz="1400">
                <a:solidFill>
                  <a:srgbClr val="A0AEC0"/>
                </a:solidFill>
                <a:latin typeface="Microsoft JhengHei"/>
              </a:defRPr>
            </a:pPr>
            <a:r>
              <a:t>▸ 識別繞過正則表達式的變形攻擊</a:t>
            </a:r>
          </a:p>
          <a:p>
            <a:pPr>
              <a:spcAft>
                <a:spcPts val="400"/>
              </a:spcAft>
              <a:defRPr sz="1400">
                <a:solidFill>
                  <a:srgbClr val="A0AEC0"/>
                </a:solidFill>
                <a:latin typeface="Microsoft JhengHei"/>
              </a:defRPr>
            </a:pPr>
            <a:r>
              <a:t>▸ Low / Medium / High 靈敏度設定</a:t>
            </a:r>
          </a:p>
          <a:p>
            <a:pPr>
              <a:spcAft>
                <a:spcPts val="400"/>
              </a:spcAft>
              <a:defRPr sz="1400">
                <a:solidFill>
                  <a:srgbClr val="A0AEC0"/>
                </a:solidFill>
                <a:latin typeface="Microsoft JhengHei"/>
              </a:defRPr>
            </a:pPr>
            <a:r>
              <a:t>▸ 支援串流式回應減少等待</a:t>
            </a:r>
          </a:p>
          <a:p>
            <a:pPr>
              <a:spcAft>
                <a:spcPts val="400"/>
              </a:spcAft>
              <a:defRPr sz="1400">
                <a:solidFill>
                  <a:srgbClr val="A0AEC0"/>
                </a:solidFill>
                <a:latin typeface="Microsoft JhengHei"/>
              </a:defRPr>
            </a:pPr>
            <a:r>
              <a:t>▸ 自訂 Ollama API URL 與模型名稱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  <a:latin typeface="Microsoft JhengHei"/>
              </a:defRPr>
            </a:pPr>
            <a:r>
              <a:t>🛡️ CC/DDoS 防護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737360"/>
          <a:ext cx="50292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86000"/>
                <a:gridCol w="13716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設定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說明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預設值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EC0"/>
                          </a:solidFill>
                          <a:latin typeface="Microsoft JhengHei"/>
                        </a:defRPr>
                      </a:pPr>
                      <a:r>
                        <a:t>速率限制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EC0"/>
                          </a:solidFill>
                          <a:latin typeface="Microsoft JhengHei"/>
                        </a:defRPr>
                      </a:pPr>
                      <a:r>
                        <a:t>單 IP 每秒最大請求數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EC0"/>
                          </a:solidFill>
                          <a:latin typeface="Microsoft JhengHei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EC0"/>
                          </a:solidFill>
                          <a:latin typeface="Microsoft JhengHei"/>
                        </a:defRPr>
                      </a:pPr>
                      <a:r>
                        <a:t>突發限制</a:t>
                      </a:r>
                    </a:p>
                  </a:txBody>
                  <a:tcPr>
                    <a:solidFill>
                      <a:srgbClr val="151F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EC0"/>
                          </a:solidFill>
                          <a:latin typeface="Microsoft JhengHei"/>
                        </a:defRPr>
                      </a:pPr>
                      <a:r>
                        <a:t>允許的突發請求量</a:t>
                      </a:r>
                    </a:p>
                  </a:txBody>
                  <a:tcPr>
                    <a:solidFill>
                      <a:srgbClr val="151F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EC0"/>
                          </a:solidFill>
                          <a:latin typeface="Microsoft JhengHei"/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151F3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EC0"/>
                          </a:solidFill>
                          <a:latin typeface="Microsoft JhengHei"/>
                        </a:defRPr>
                      </a:pPr>
                      <a:r>
                        <a:t>封鎖時間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EC0"/>
                          </a:solidFill>
                          <a:latin typeface="Microsoft JhengHei"/>
                        </a:defRPr>
                      </a:pPr>
                      <a:r>
                        <a:t>觸發後封鎖持續時間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EC0"/>
                          </a:solidFill>
                          <a:latin typeface="Microsoft JhengHei"/>
                        </a:defRPr>
                      </a:pPr>
                      <a:r>
                        <a:t>3600 秒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3474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Microsoft JhengHei"/>
              </a:defRPr>
            </a:pPr>
            <a:r>
              <a:t>🧩 人機驗證 CAPTCHA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931920"/>
            <a:ext cx="50292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A0AEC0"/>
                </a:solidFill>
                <a:latin typeface="Microsoft JhengHei"/>
              </a:defRPr>
            </a:pPr>
            <a:r>
              <a:t>▸ 拼圖滑塊式驗證</a:t>
            </a:r>
          </a:p>
          <a:p>
            <a:pPr>
              <a:spcAft>
                <a:spcPts val="400"/>
              </a:spcAft>
              <a:defRPr sz="1300">
                <a:solidFill>
                  <a:srgbClr val="A0AEC0"/>
                </a:solidFill>
                <a:latin typeface="Microsoft JhengHei"/>
              </a:defRPr>
            </a:pPr>
            <a:r>
              <a:t>▸ 點選驗證 / 文字驗證</a:t>
            </a:r>
          </a:p>
          <a:p>
            <a:pPr>
              <a:spcAft>
                <a:spcPts val="400"/>
              </a:spcAft>
              <a:defRPr sz="1300">
                <a:solidFill>
                  <a:srgbClr val="A0AEC0"/>
                </a:solidFill>
                <a:latin typeface="Microsoft JhengHei"/>
              </a:defRPr>
            </a:pPr>
            <a:r>
              <a:t>▸ 5 分鐘有效期</a:t>
            </a:r>
          </a:p>
          <a:p>
            <a:pPr>
              <a:spcAft>
                <a:spcPts val="400"/>
              </a:spcAft>
              <a:defRPr sz="1300">
                <a:solidFill>
                  <a:srgbClr val="A0AEC0"/>
                </a:solidFill>
                <a:latin typeface="Microsoft JhengHei"/>
              </a:defRPr>
            </a:pPr>
            <a:r>
              <a:t>▸ Token Cookie 1 小時有效</a:t>
            </a:r>
          </a:p>
          <a:p>
            <a:pPr>
              <a:spcAft>
                <a:spcPts val="400"/>
              </a:spcAft>
              <a:defRPr sz="1300">
                <a:solidFill>
                  <a:srgbClr val="A0AEC0"/>
                </a:solidFill>
                <a:latin typeface="Microsoft JhengHei"/>
              </a:defRPr>
            </a:pPr>
            <a:r>
              <a:t>▸ IP 綁定驗證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Microsoft JhengHei"/>
              </a:defRPr>
            </a:pPr>
            <a:r>
              <a:t>觸發動作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029200"/>
            <a:ext cx="1097280" cy="36576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05663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Microsoft JhengHei"/>
              </a:defRPr>
            </a:pPr>
            <a:r>
              <a:t>Block 封鎖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5029200"/>
            <a:ext cx="1097280" cy="36576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11680" y="505663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Microsoft JhengHei"/>
              </a:defRPr>
            </a:pPr>
            <a:r>
              <a:t>Captcha 驗證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39" y="5029200"/>
            <a:ext cx="1097280" cy="36576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39" y="505663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C3AED"/>
                </a:solidFill>
                <a:latin typeface="Microsoft JhengHei"/>
              </a:defRPr>
            </a:pPr>
            <a:r>
              <a:t>Delay 延遲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1999" y="5029200"/>
            <a:ext cx="1097280" cy="36576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1999" y="505663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Microsoft JhengHei"/>
              </a:defRPr>
            </a:pPr>
            <a:r>
              <a:t>Log 記錄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存取控制 &amp; 自動封鎖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27432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3474720" cy="2560320"/>
          </a:xfrm>
          <a:prstGeom prst="rect">
            <a:avLst/>
          </a:prstGeom>
          <a:solidFill>
            <a:srgbClr val="1A253C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Microsoft JhengHei"/>
              </a:defRPr>
            </a:pPr>
            <a:r>
              <a:t>🚫 IP 名單管理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310896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黑名單：手動新增 IP/CIDR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白名單：信任 IP 繞過 WAF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過期時間設定與自動過期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批量管理支援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188720"/>
            <a:ext cx="3474720" cy="2560320"/>
          </a:xfrm>
          <a:prstGeom prst="rect">
            <a:avLst/>
          </a:prstGeom>
          <a:solidFill>
            <a:srgbClr val="1A253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325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Microsoft JhengHei"/>
              </a:defRPr>
            </a:pPr>
            <a:r>
              <a:t>⚡ 自動封鎖規則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691640"/>
            <a:ext cx="310896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基於攻擊行為自動封鎖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可設定閾值 / 時間窗口 / 封鎖時長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支援所有攻擊類型過濾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範例：5分鐘內10次SQLi → 封鎖24hr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188720"/>
            <a:ext cx="3474720" cy="2560320"/>
          </a:xfrm>
          <a:prstGeom prst="rect">
            <a:avLst/>
          </a:prstGeom>
          <a:solidFill>
            <a:srgbClr val="1A253C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325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Microsoft JhengHei"/>
              </a:defRPr>
            </a:pPr>
            <a:r>
              <a:t>🔑 站點級身份認證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1691640"/>
            <a:ext cx="310896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WAF 層路徑保護（萬用字元）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bcrypt 加密密碼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WebAuthn / FIDO2 Passkey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指紋 / Face ID / YubiKey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  <a:latin typeface="Microsoft JhengHei"/>
              </a:defRPr>
            </a:pPr>
            <a:r>
              <a:t>📝 自訂 WAF 規則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31520" y="466344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2296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設定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說明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EC0"/>
                          </a:solidFill>
                          <a:latin typeface="Microsoft JhengHei"/>
                        </a:defRPr>
                      </a:pPr>
                      <a:r>
                        <a:t>匹配模式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EC0"/>
                          </a:solidFill>
                          <a:latin typeface="Microsoft JhengHei"/>
                        </a:defRPr>
                      </a:pPr>
                      <a:r>
                        <a:t>正則表達式或字串模式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EC0"/>
                          </a:solidFill>
                          <a:latin typeface="Microsoft JhengHei"/>
                        </a:defRPr>
                      </a:pPr>
                      <a:r>
                        <a:t>檢測目標</a:t>
                      </a:r>
                    </a:p>
                  </a:txBody>
                  <a:tcPr>
                    <a:solidFill>
                      <a:srgbClr val="151F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EC0"/>
                          </a:solidFill>
                          <a:latin typeface="Microsoft JhengHei"/>
                        </a:defRPr>
                      </a:pPr>
                      <a:r>
                        <a:t>URI / Query String / Header / Body / IP</a:t>
                      </a:r>
                    </a:p>
                  </a:txBody>
                  <a:tcPr>
                    <a:solidFill>
                      <a:srgbClr val="151F3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EC0"/>
                          </a:solidFill>
                          <a:latin typeface="Microsoft JhengHei"/>
                        </a:defRPr>
                      </a:pPr>
                      <a:r>
                        <a:t>處置動作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EC0"/>
                          </a:solidFill>
                          <a:latin typeface="Microsoft JhengHei"/>
                        </a:defRPr>
                      </a:pPr>
                      <a:r>
                        <a:t>Block (403) / Allow (白名單) / Log (僅記錄)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EC0"/>
                          </a:solidFill>
                          <a:latin typeface="Microsoft JhengHei"/>
                        </a:defRPr>
                      </a:pPr>
                      <a:r>
                        <a:t>優先級</a:t>
                      </a:r>
                    </a:p>
                  </a:txBody>
                  <a:tcPr>
                    <a:solidFill>
                      <a:srgbClr val="151F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0AEC0"/>
                          </a:solidFill>
                          <a:latin typeface="Microsoft JhengHei"/>
                        </a:defRPr>
                      </a:pPr>
                      <a:r>
                        <a:t>控制規則執行順序</a:t>
                      </a:r>
                    </a:p>
                  </a:txBody>
                  <a:tcPr>
                    <a:solidFill>
                      <a:srgbClr val="151F3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CVE 漏洞追蹤 &amp; AI 規則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32004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5303520" cy="2286000"/>
          </a:xfrm>
          <a:prstGeom prst="rect">
            <a:avLst/>
          </a:prstGeom>
          <a:solidFill>
            <a:srgbClr val="1A253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Microsoft JhengHei"/>
              </a:defRPr>
            </a:pPr>
            <a:r>
              <a:t>🔥 CVE 漏洞追蹤與規則生成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49377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自動從 NIST NVD API 擷取最新 CVE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AI 分析漏洞描述與攻擊向量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自動搜尋 GitHub PoC 程式碼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SSE 串流即時顯示規則生成進度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人工審核 → 批准 → 套用到站點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188720"/>
            <a:ext cx="5303520" cy="2286000"/>
          </a:xfrm>
          <a:prstGeom prst="rect">
            <a:avLst/>
          </a:prstGeom>
          <a:solidFill>
            <a:srgbClr val="1A253C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3258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Microsoft JhengHei"/>
              </a:defRPr>
            </a:pPr>
            <a:r>
              <a:t>🤖 AI 規則建議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691640"/>
            <a:ext cx="49377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自動分析攻擊日誌識別高頻模式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AI 智能命名規則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自動辨識 WebShell/SQLi/XSS/RCE/LFI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一鍵加入全域規則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顯示觸發 IP 與命中次數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840480"/>
            <a:ext cx="5303520" cy="2560320"/>
          </a:xfrm>
          <a:prstGeom prst="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977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Microsoft JhengHei"/>
              </a:defRPr>
            </a:pPr>
            <a:r>
              <a:t>📧 自動郵件報告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43400"/>
            <a:ext cx="49377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每日自動 AI 安全分析報告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異常告警即時通知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深色主題專業安全報告模板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可調整告警靈敏度 (1-10)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包含攻擊統計、類型分布與 AI 建議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3840480"/>
            <a:ext cx="5303520" cy="2560320"/>
          </a:xfrm>
          <a:prstGeom prst="rect">
            <a:avLst/>
          </a:prstGeom>
          <a:solidFill>
            <a:srgbClr val="1A253C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3977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Microsoft JhengHei"/>
              </a:defRPr>
            </a:pPr>
            <a:r>
              <a:t>🌍 全域規則管理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343400"/>
            <a:ext cx="49377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規則自動套用所有站點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Pattern 正則表達式匹配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目標：URI / Query / Header / Body / 全部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動作：阻擋 / 僅記錄 / 驗證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優先順序 &amp; 啟用/停用控制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攻擊日誌 &amp; 即時攻擊地圖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32004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  <a:latin typeface="Microsoft JhengHei"/>
              </a:defRPr>
            </a:pPr>
            <a:r>
              <a:t>📋 攻擊日誌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02920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A0AEC0"/>
                </a:solidFill>
                <a:latin typeface="Microsoft JhengHei"/>
              </a:defRPr>
            </a:pPr>
            <a:r>
              <a:t>▸ 完整記錄：IP、類型、嚴重程度、Payload、UA</a:t>
            </a:r>
          </a:p>
          <a:p>
            <a:pPr>
              <a:spcAft>
                <a:spcPts val="400"/>
              </a:spcAft>
              <a:defRPr sz="1400">
                <a:solidFill>
                  <a:srgbClr val="A0AEC0"/>
                </a:solidFill>
                <a:latin typeface="Microsoft JhengHei"/>
              </a:defRPr>
            </a:pPr>
            <a:r>
              <a:t>▸ 篩選：類型 / 嚴重程度 / 日期 / IP</a:t>
            </a:r>
          </a:p>
          <a:p>
            <a:pPr>
              <a:spcAft>
                <a:spcPts val="400"/>
              </a:spcAft>
              <a:defRPr sz="1400">
                <a:solidFill>
                  <a:srgbClr val="A0AEC0"/>
                </a:solidFill>
                <a:latin typeface="Microsoft JhengHei"/>
              </a:defRPr>
            </a:pPr>
            <a:r>
              <a:t>▸ 統計：總攻擊、今日攻擊、封鎖數、獨立IP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Microsoft JhengHei"/>
              </a:defRPr>
            </a:pPr>
            <a:r>
              <a:t>📄 系統日誌檢視器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502920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A0AEC0"/>
                </a:solidFill>
                <a:latin typeface="Microsoft JhengHei"/>
              </a:defRPr>
            </a:pPr>
            <a:r>
              <a:t>▸ Access Log / Error Log 即時查看</a:t>
            </a:r>
          </a:p>
          <a:p>
            <a:pPr>
              <a:spcAft>
                <a:spcPts val="400"/>
              </a:spcAft>
              <a:defRPr sz="1400">
                <a:solidFill>
                  <a:srgbClr val="A0AEC0"/>
                </a:solidFill>
                <a:latin typeface="Microsoft JhengHei"/>
              </a:defRPr>
            </a:pPr>
            <a:r>
              <a:t>▸ 多站點日誌切換</a:t>
            </a:r>
          </a:p>
          <a:p>
            <a:pPr>
              <a:spcAft>
                <a:spcPts val="400"/>
              </a:spcAft>
              <a:defRPr sz="1400">
                <a:solidFill>
                  <a:srgbClr val="A0AEC0"/>
                </a:solidFill>
                <a:latin typeface="Microsoft JhengHei"/>
              </a:defRPr>
            </a:pPr>
            <a:r>
              <a:t>▸ 最多 1000 行 + 關鍵字搜尋</a:t>
            </a:r>
          </a:p>
          <a:p>
            <a:pPr>
              <a:spcAft>
                <a:spcPts val="400"/>
              </a:spcAft>
              <a:defRPr sz="1400">
                <a:solidFill>
                  <a:srgbClr val="A0AEC0"/>
                </a:solidFill>
                <a:latin typeface="Microsoft JhengHei"/>
              </a:defRPr>
            </a:pPr>
            <a:r>
              <a:t>▸ 自動解析格式化日誌欄位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Microsoft JhengHei"/>
              </a:defRPr>
            </a:pPr>
            <a:r>
              <a:t>🗺️ 即時攻擊地圖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50292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A0AEC0"/>
                </a:solidFill>
                <a:latin typeface="Microsoft JhengHei"/>
              </a:defRPr>
            </a:pPr>
            <a:r>
              <a:t>▸ 世界地圖攻擊來源地理位置</a:t>
            </a:r>
          </a:p>
          <a:p>
            <a:pPr>
              <a:spcAft>
                <a:spcPts val="400"/>
              </a:spcAft>
              <a:defRPr sz="1400">
                <a:solidFill>
                  <a:srgbClr val="A0AEC0"/>
                </a:solidFill>
                <a:latin typeface="Microsoft JhengHei"/>
              </a:defRPr>
            </a:pPr>
            <a:r>
              <a:t>▸ 攻擊軌跡動畫效果</a:t>
            </a:r>
          </a:p>
          <a:p>
            <a:pPr>
              <a:spcAft>
                <a:spcPts val="400"/>
              </a:spcAft>
              <a:defRPr sz="1400">
                <a:solidFill>
                  <a:srgbClr val="A0AEC0"/>
                </a:solidFill>
                <a:latin typeface="Microsoft JhengHei"/>
              </a:defRPr>
            </a:pPr>
            <a:r>
              <a:t>▸ 國家排名統計</a:t>
            </a:r>
          </a:p>
          <a:p>
            <a:pPr>
              <a:spcAft>
                <a:spcPts val="400"/>
              </a:spcAft>
              <a:defRPr sz="1400">
                <a:solidFill>
                  <a:srgbClr val="A0AEC0"/>
                </a:solidFill>
                <a:latin typeface="Microsoft JhengHei"/>
              </a:defRPr>
            </a:pPr>
            <a:r>
              <a:t>▸ 3D 地球視覺化 (Three.js)</a:t>
            </a:r>
          </a:p>
          <a:p>
            <a:pPr>
              <a:spcAft>
                <a:spcPts val="400"/>
              </a:spcAft>
              <a:defRPr sz="1400">
                <a:solidFill>
                  <a:srgbClr val="A0AEC0"/>
                </a:solidFill>
                <a:latin typeface="Microsoft JhengHei"/>
              </a:defRPr>
            </a:pPr>
            <a:r>
              <a:t>▸ 標準 2D / 概念動畫 / 3D 視圖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474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Microsoft JhengHei"/>
              </a:defRPr>
            </a:pPr>
            <a:r>
              <a:t>🔗 公開攻擊地圖分享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023360"/>
            <a:ext cx="502920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A0AEC0"/>
                </a:solidFill>
                <a:latin typeface="Microsoft JhengHei"/>
              </a:defRPr>
            </a:pPr>
            <a:r>
              <a:t>▸ 產生公開存取 Token</a:t>
            </a:r>
          </a:p>
          <a:p>
            <a:pPr>
              <a:spcAft>
                <a:spcPts val="400"/>
              </a:spcAft>
              <a:defRPr sz="1400">
                <a:solidFill>
                  <a:srgbClr val="A0AEC0"/>
                </a:solidFill>
                <a:latin typeface="Microsoft JhengHei"/>
              </a:defRPr>
            </a:pPr>
            <a:r>
              <a:t>▸ 可設定過期時間 &amp; 啟停控制</a:t>
            </a:r>
          </a:p>
          <a:p>
            <a:pPr>
              <a:spcAft>
                <a:spcPts val="400"/>
              </a:spcAft>
              <a:defRPr sz="1400">
                <a:solidFill>
                  <a:srgbClr val="A0AEC0"/>
                </a:solidFill>
                <a:latin typeface="Microsoft JhengHei"/>
              </a:defRPr>
            </a:pPr>
            <a:r>
              <a:t>▸ 瀏覽次數統計</a:t>
            </a:r>
          </a:p>
          <a:p>
            <a:pPr>
              <a:spcAft>
                <a:spcPts val="400"/>
              </a:spcAft>
              <a:defRPr sz="1400">
                <a:solidFill>
                  <a:srgbClr val="A0AEC0"/>
                </a:solidFill>
                <a:latin typeface="Microsoft JhengHei"/>
              </a:defRPr>
            </a:pPr>
            <a:r>
              <a:t>▸ 適用：客戶展示 / 報告嵌入 / 安全簡報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JhengHei"/>
              </a:defRPr>
            </a:pPr>
            <a:r>
              <a:t>SOC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108960"/>
            <a:ext cx="21031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383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AEC0"/>
                </a:solidFill>
                <a:latin typeface="Microsoft JhengHei"/>
              </a:defRPr>
            </a:pPr>
            <a:r>
              <a:t>專業安全操作中心 — 全螢幕安全態勢監控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SOC Dashboard &amp; 系統監控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32004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3474720" cy="2560320"/>
          </a:xfrm>
          <a:prstGeom prst="rect">
            <a:avLst/>
          </a:prstGeom>
          <a:solidFill>
            <a:srgbClr val="1A253C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Microsoft JhengHei"/>
              </a:defRPr>
            </a:pPr>
            <a:r>
              <a:t>🖥️ SOC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3108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Three.js 3D 地球攻擊視覺化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2D 攻擊軌跡動畫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即時統計數據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AI 威脅報告一鍵發送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全螢幕安全中心展示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188720"/>
            <a:ext cx="3474720" cy="2560320"/>
          </a:xfrm>
          <a:prstGeom prst="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325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Microsoft JhengHei"/>
              </a:defRPr>
            </a:pPr>
            <a:r>
              <a:t>📊 系統資源監控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691640"/>
            <a:ext cx="3108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CPU / 記憶體 / 磁碟使用率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網路流量進出統計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QPS 每秒查詢數統計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Nginx 活躍連線數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動態基線 EMA 演算法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188720"/>
            <a:ext cx="3474720" cy="2560320"/>
          </a:xfrm>
          <a:prstGeom prst="rect">
            <a:avLst/>
          </a:prstGeom>
          <a:solidFill>
            <a:srgbClr val="1A253C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325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Microsoft JhengHei"/>
              </a:defRPr>
            </a:pPr>
            <a:r>
              <a:t>🔗 公開 SOC 分享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1691640"/>
            <a:ext cx="3108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產生公開存取 Token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自動移除敏感資訊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即時脫敏安全統計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完整 SOC 視覺化效果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適用安全簡報與大螢幕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AI 安全助手 Sentinel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274320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3474720" cy="2743200"/>
          </a:xfrm>
          <a:prstGeom prst="rect">
            <a:avLst/>
          </a:prstGeom>
          <a:solidFill>
            <a:srgbClr val="1A253C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Microsoft JhengHei"/>
              </a:defRPr>
            </a:pPr>
            <a:r>
              <a:t>💬 對話式介面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310896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中文/英文自然語言對話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串流逐字即時回應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保留對話上下文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188720"/>
            <a:ext cx="3474720" cy="2743200"/>
          </a:xfrm>
          <a:prstGeom prst="rect">
            <a:avLst/>
          </a:prstGeom>
          <a:solidFill>
            <a:srgbClr val="1A253C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325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Microsoft JhengHei"/>
              </a:defRPr>
            </a:pPr>
            <a:r>
              <a:t>🔍 查詢功能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691640"/>
            <a:ext cx="310896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「分析今天的攻擊趨勢」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「這個 IP 為什麼被封鎖？」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「過去一週的攻擊數量？」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攻擊分析 / IP 調查 / 威脅評估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188720"/>
            <a:ext cx="3474720" cy="2743200"/>
          </a:xfrm>
          <a:prstGeom prst="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325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Microsoft JhengHei"/>
              </a:defRPr>
            </a:pPr>
            <a:r>
              <a:t>⚙️ Function Calling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1691640"/>
            <a:ext cx="310896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「封鎖 1.2.3.4 這個 IP 30 天」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「解除 IP 封鎖」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「將 10.0.0.0/8 加入白名單」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「開啟 CC 防護」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297680"/>
            <a:ext cx="11155680" cy="2103120"/>
          </a:xfrm>
          <a:prstGeom prst="rect">
            <a:avLst/>
          </a:prstGeom>
          <a:solidFill>
            <a:srgbClr val="1A253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4348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Microsoft JhengHei"/>
              </a:defRPr>
            </a:pPr>
            <a:r>
              <a:t>📄 報告生成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00600"/>
            <a:ext cx="1078992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生成詳細安全分析報告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彙整特定時間的攻擊狀況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分析攻擊趨勢變化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一鍵發送至指定郵箱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JhengHei"/>
              </a:defRPr>
            </a:pPr>
            <a:r>
              <a:t>IDS/IPS 整合管理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108960"/>
            <a:ext cx="210312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383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AEC0"/>
                </a:solidFill>
                <a:latin typeface="Microsoft JhengHei"/>
              </a:defRPr>
            </a:pPr>
            <a:r>
              <a:t>分散式入侵偵測與防禦系統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IDS/IPS 架構與 Agent 管理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32004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5303520" cy="2286000"/>
          </a:xfrm>
          <a:prstGeom prst="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Microsoft JhengHei"/>
              </a:defRPr>
            </a:pPr>
            <a:r>
              <a:t>🏗️ 系統架構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493776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SOC Hub：中央控制中心，Agent 管理與規則派發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IDS Agent：部署於後端的輕量級偵測代理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統一 API：安全的註冊、心跳與告警通道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Bearer Token 認證 + SSE 即時告警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188720"/>
            <a:ext cx="5303520" cy="2286000"/>
          </a:xfrm>
          <a:prstGeom prst="rect">
            <a:avLst/>
          </a:prstGeom>
          <a:solidFill>
            <a:srgbClr val="1A253C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3258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Microsoft JhengHei"/>
              </a:defRPr>
            </a:pPr>
            <a:r>
              <a:t>🤖 Agent 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691640"/>
            <a:ext cx="493776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自動註冊與 Docker 安裝指令生成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Active / Inactive 狀態監控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遠端觸發更新 / 推送規則 / 重新配置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系統資訊：IP、主機名、OS、版本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840480"/>
            <a:ext cx="5303520" cy="2560320"/>
          </a:xfrm>
          <a:prstGeom prst="rect">
            <a:avLst/>
          </a:prstGeom>
          <a:solidFill>
            <a:srgbClr val="1A253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977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Microsoft JhengHei"/>
              </a:defRPr>
            </a:pPr>
            <a:r>
              <a:t>📝 IDS 規則管理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43400"/>
            <a:ext cx="49377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全域規則 / Agent 專屬規則 / 同步規則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Signature 正規表達式匹配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嚴重度：Critical / High / Medium / Low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動作：Alert（告警）/ Block（封鎖）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Hub ↔ Agent 雙向規則同步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3840480"/>
            <a:ext cx="5303520" cy="2560320"/>
          </a:xfrm>
          <a:prstGeom prst="rect">
            <a:avLst/>
          </a:prstGeom>
          <a:solidFill>
            <a:srgbClr val="1A253C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3977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Microsoft JhengHei"/>
              </a:defRPr>
            </a:pPr>
            <a:r>
              <a:t>🚨 告警管理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343400"/>
            <a:ext cx="49377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集中管理所有 Agent 告警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SSE 即時推送 + Fetch Polling 備援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視覺通知 + 高嚴重度音效告警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一鍵封鎖攻擊 IP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篩選：Agent / 嚴重度 / 日期 / 審核狀態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IDS 偵測引擎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228600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3474720" cy="5029200"/>
          </a:xfrm>
          <a:prstGeom prst="rect">
            <a:avLst/>
          </a:prstGeom>
          <a:solidFill>
            <a:srgbClr val="1A253C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Microsoft JhengHei"/>
              </a:defRPr>
            </a:pPr>
            <a:r>
              <a:t>🔍 特徵偵測引擎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3108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SQL Injection / XSS / Path Traversal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命令注入 / PHP 注入 / WebShell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SSRF / XXE / Log4Shell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正規表達式匹配 + 規則快取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資料庫與內建規則並用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188720"/>
            <a:ext cx="3474720" cy="5029200"/>
          </a:xfrm>
          <a:prstGeom prst="rect">
            <a:avLst/>
          </a:prstGeom>
          <a:solidFill>
            <a:srgbClr val="1A253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325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Microsoft JhengHei"/>
              </a:defRPr>
            </a:pPr>
            <a:r>
              <a:t>📊 異常偵測引擎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69164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高請求頻率 (&gt;100 req/min)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大請求體 (&gt;1MB)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長 URL (&gt;2048 字元)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可疑 User-Agent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非營業時段高頻請求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動態嚴重度計算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188720"/>
            <a:ext cx="3474720" cy="5029200"/>
          </a:xfrm>
          <a:prstGeom prst="rect">
            <a:avLst/>
          </a:prstGeom>
          <a:solidFill>
            <a:srgbClr val="1A253C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325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Microsoft JhengHei"/>
              </a:defRPr>
            </a:pPr>
            <a:r>
              <a:t>🧠 行為分析引擎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169164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掃描行為 (&gt;20 URL/5分鐘)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暴力破解 (&gt;5 次失敗)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爬蟲行為 (Headless/Selenium)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快速請求 (&gt;10 req/10秒)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0-100 行為評分制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暴力破解 +50 / 掃描 +40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IDS AI 偵測 &amp; Agent 本地功能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32004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5303520" cy="2286000"/>
          </a:xfrm>
          <a:prstGeom prst="rect">
            <a:avLst/>
          </a:prstGeom>
          <a:solidFill>
            <a:srgbClr val="1A253C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Microsoft JhengHei"/>
              </a:defRPr>
            </a:pPr>
            <a:r>
              <a:t>🧠 AI 智能偵測引擎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49377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整合 Ollama LLM 深度威脅分析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0-100 分制威脅評分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自動攻擊分類與嚴重度判定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結果快取 5 分鐘 + 路徑白名單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非同步處理不阻塞主流程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188720"/>
            <a:ext cx="5303520" cy="2286000"/>
          </a:xfrm>
          <a:prstGeom prst="rect">
            <a:avLst/>
          </a:prstGeom>
          <a:solidFill>
            <a:srgbClr val="1A253C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3258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Microsoft JhengHei"/>
              </a:defRPr>
            </a:pPr>
            <a:r>
              <a:t>🚫 IP 封鎖服務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691640"/>
            <a:ext cx="493776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WAF 規則封鎖 / iptables 封鎖 / 雙重封鎖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依嚴重度封鎖：Critical 24h / High 1h / Medium 30m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白名單繞過 + 自動解封 + 持久化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重啟後恢復封鎖規則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840480"/>
            <a:ext cx="3474720" cy="2560320"/>
          </a:xfrm>
          <a:prstGeom prst="rect">
            <a:avLst/>
          </a:prstGeom>
          <a:solidFill>
            <a:srgbClr val="1A253C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977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Microsoft JhengHei"/>
              </a:defRPr>
            </a:pPr>
            <a:r>
              <a:t>📈 流量分析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43400"/>
            <a:ext cx="3108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QPS 計算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IP 頻率分析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URL 模式分析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UA 分布統計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歷史基線偵測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3840480"/>
            <a:ext cx="3474720" cy="2560320"/>
          </a:xfrm>
          <a:prstGeom prst="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3977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Microsoft JhengHei"/>
              </a:defRPr>
            </a:pPr>
            <a:r>
              <a:t>🔎 日誌自動探索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343400"/>
            <a:ext cx="310896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自動探索 Nginx/Apache 日誌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支援容器/主機掛載路徑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自動格式偵測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多租戶萬用字元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3840480"/>
            <a:ext cx="3474720" cy="2560320"/>
          </a:xfrm>
          <a:prstGeom prst="rect">
            <a:avLst/>
          </a:prstGeom>
          <a:solidFill>
            <a:srgbClr val="1A253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3977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Microsoft JhengHei"/>
              </a:defRPr>
            </a:pPr>
            <a:r>
              <a:t>🔔 通知 &amp; 集中控制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343400"/>
            <a:ext cx="310896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Telegram / Email / Webhook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IDS / IPS / AI 集中開關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設定自動同步到所有 Agent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SOC Hub 優先設定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使用者管理 &amp; 系統設定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27432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3474720" cy="2743200"/>
          </a:xfrm>
          <a:prstGeom prst="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Microsoft JhengHei"/>
              </a:defRPr>
            </a:pPr>
            <a:r>
              <a:t>👥 使用者管理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3108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新增/編輯/刪除管理員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個人資料與密碼變更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Passkey 註冊與管理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Passkey 登入控制台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至少保留一個帳號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188720"/>
            <a:ext cx="3474720" cy="2743200"/>
          </a:xfrm>
          <a:prstGeom prst="rect">
            <a:avLst/>
          </a:prstGeom>
          <a:solidFill>
            <a:srgbClr val="1A253C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325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Microsoft JhengHei"/>
              </a:defRPr>
            </a:pPr>
            <a:r>
              <a:t>⚙️ 系統設定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691640"/>
            <a:ext cx="3108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WAF 監聽端口設定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日誌保留天數 (預設30天)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激進模式開關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時區設定 (Asia/Taipei)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AI Ollama URL &amp; 模型設定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188720"/>
            <a:ext cx="3474720" cy="2743200"/>
          </a:xfrm>
          <a:prstGeom prst="rect">
            <a:avLst/>
          </a:prstGeom>
          <a:solidFill>
            <a:srgbClr val="1A253C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325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Microsoft JhengHei"/>
              </a:defRPr>
            </a:pPr>
            <a:r>
              <a:t>🛡️ IDS/IPS 設定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1691640"/>
            <a:ext cx="3108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IDS / IPS 全域開關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AI 偵測開關 &amp; 閾值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自動封鎖閾值設定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告警通知信箱</a:t>
            </a:r>
          </a:p>
          <a:p>
            <a:pPr>
              <a:spcAft>
                <a:spcPts val="400"/>
              </a:spcAft>
              <a:defRPr sz="1100">
                <a:solidFill>
                  <a:srgbClr val="A0AEC0"/>
                </a:solidFill>
                <a:latin typeface="Microsoft JhengHei"/>
              </a:defRPr>
            </a:pPr>
            <a:r>
              <a:t>▸ 設定自動同步所有 Agent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JhengHei"/>
              </a:defRPr>
            </a:pPr>
            <a:r>
              <a:t>功能總覽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920240"/>
            <a:ext cx="21031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286000"/>
            <a:ext cx="10332720" cy="5029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500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Microsoft JhengHei"/>
              </a:defRPr>
            </a:pPr>
            <a:r>
              <a:t>🌐 站點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35000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Microsoft JhengHei"/>
              </a:defRPr>
            </a:pPr>
            <a:r>
              <a:t>多站點管理、反向代理、負載均衡、SSL 憑證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880360"/>
            <a:ext cx="10332720" cy="5029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9443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Microsoft JhengHei"/>
              </a:defRPr>
            </a:pPr>
            <a:r>
              <a:t>🛡️ 防護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94436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Microsoft JhengHei"/>
              </a:defRPr>
            </a:pPr>
            <a:r>
              <a:t>SQL/XSS/RCE/Traversal/Scanner/OGNL/Java + AI 防禦 + CC/DDoS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474720"/>
            <a:ext cx="10332720" cy="5029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5387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Microsoft JhengHei"/>
              </a:defRPr>
            </a:pPr>
            <a:r>
              <a:t>📝 規則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53872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Microsoft JhengHei"/>
              </a:defRPr>
            </a:pPr>
            <a:r>
              <a:t>自訂規則、全域規則、CVE 自動規則生成、AI 規則建議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069080"/>
            <a:ext cx="10332720" cy="5029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13308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Microsoft JhengHei"/>
              </a:defRPr>
            </a:pPr>
            <a:r>
              <a:t>🔐 存取控制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13308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Microsoft JhengHei"/>
              </a:defRPr>
            </a:pPr>
            <a:r>
              <a:t>IP 黑白名單、自動封鎖、站點認證 (Passkey)、CAPTCHA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663440"/>
            <a:ext cx="10332720" cy="5029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72744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Microsoft JhengHei"/>
              </a:defRPr>
            </a:pPr>
            <a:r>
              <a:t>📊 監控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72744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Microsoft JhengHei"/>
              </a:defRPr>
            </a:pPr>
            <a:r>
              <a:t>儀表板、SOC Dashboard、攻擊日誌、攻擊地圖、系統監控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257800"/>
            <a:ext cx="10332720" cy="5029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3218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Microsoft JhengHei"/>
              </a:defRPr>
            </a:pPr>
            <a:r>
              <a:t>🤖 智能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532180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Microsoft JhengHei"/>
              </a:defRPr>
            </a:pPr>
            <a:r>
              <a:t>AI 助手 Sentinel、AI 威脅報告、CVE 追蹤、AI 規則生成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5852160"/>
            <a:ext cx="10332720" cy="5029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59161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Microsoft JhengHei"/>
              </a:defRPr>
            </a:pPr>
            <a:r>
              <a:t>🔍 IDS/IPS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591616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Microsoft JhengHei"/>
              </a:defRPr>
            </a:pPr>
            <a:r>
              <a:t>Agent 管理、規則同步、告警監控、AI 偵測、封鎖 IP 管理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64008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Microsoft JhengHei"/>
              </a:defRPr>
            </a:pPr>
            <a:r>
              <a:t>Security One SOC — 企業級統一安全平台 ｜ 文件版本 3.0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